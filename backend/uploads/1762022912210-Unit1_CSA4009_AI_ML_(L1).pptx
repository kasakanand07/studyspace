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316" r:id="rId5"/>
    <p:sldId id="683" r:id="rId6"/>
    <p:sldId id="724" r:id="rId7"/>
    <p:sldId id="692" r:id="rId8"/>
    <p:sldId id="693" r:id="rId9"/>
    <p:sldId id="694" r:id="rId10"/>
    <p:sldId id="741" r:id="rId11"/>
    <p:sldId id="742" r:id="rId12"/>
    <p:sldId id="743" r:id="rId13"/>
    <p:sldId id="695" r:id="rId14"/>
    <p:sldId id="74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493979-1346-467C-A3A9-53EE23BBA654}">
          <p14:sldIdLst>
            <p14:sldId id="316"/>
            <p14:sldId id="683"/>
            <p14:sldId id="724"/>
            <p14:sldId id="692"/>
            <p14:sldId id="693"/>
            <p14:sldId id="694"/>
            <p14:sldId id="741"/>
            <p14:sldId id="742"/>
            <p14:sldId id="743"/>
            <p14:sldId id="695"/>
            <p14:sldId id="7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F1B3B-B306-4D45-A67D-85F2A56A4CDC}" type="datetimeFigureOut">
              <a:rPr lang="en-US" smtClean="0"/>
              <a:t>9/21/2025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163B0-53B0-42D2-A9F9-D67B6219025F}" type="slidenum">
              <a:rPr lang="en-US" smtClean="0"/>
              <a:t>‹#›</a:t>
            </a:fld>
            <a:endParaRPr lang="en-US"/>
          </a:p>
        </p:txBody>
      </p:sp>
    </p:spTree>
    <p:extLst>
      <p:ext uri="{BB962C8B-B14F-4D97-AF65-F5344CB8AC3E}">
        <p14:creationId xmlns:p14="http://schemas.microsoft.com/office/powerpoint/2010/main" val="3987828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FC163B0-53B0-42D2-A9F9-D67B6219025F}" type="slidenum">
              <a:rPr lang="en-US" smtClean="0"/>
              <a:t>1</a:t>
            </a:fld>
            <a:endParaRPr lang="en-US"/>
          </a:p>
        </p:txBody>
      </p:sp>
    </p:spTree>
    <p:extLst>
      <p:ext uri="{BB962C8B-B14F-4D97-AF65-F5344CB8AC3E}">
        <p14:creationId xmlns:p14="http://schemas.microsoft.com/office/powerpoint/2010/main" val="3675997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FC163B0-53B0-42D2-A9F9-D67B6219025F}" type="slidenum">
              <a:rPr lang="en-US" smtClean="0"/>
              <a:t>2</a:t>
            </a:fld>
            <a:endParaRPr lang="en-US"/>
          </a:p>
        </p:txBody>
      </p:sp>
    </p:spTree>
    <p:extLst>
      <p:ext uri="{BB962C8B-B14F-4D97-AF65-F5344CB8AC3E}">
        <p14:creationId xmlns:p14="http://schemas.microsoft.com/office/powerpoint/2010/main" val="2431876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096237"/>
            <a:ext cx="103632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8AA6201-6C0A-41A0-A7A8-D4322D28CC13}" type="datetime1">
              <a:rPr lang="en-US">
                <a:solidFill>
                  <a:prstClr val="black">
                    <a:tint val="75000"/>
                  </a:prstClr>
                </a:solidFill>
              </a:rPr>
              <a:pPr>
                <a:defRPr/>
              </a:pPr>
              <a:t>9/21/2025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9446684" y="6381751"/>
            <a:ext cx="2743200" cy="365125"/>
          </a:xfrm>
        </p:spPr>
        <p:txBody>
          <a:bodyPr/>
          <a:lstStyle>
            <a:lvl1pPr>
              <a:defRPr sz="1600" b="1">
                <a:solidFill>
                  <a:schemeClr val="bg1"/>
                </a:solidFill>
                <a:latin typeface="Cambria" panose="02040503050406030204" pitchFamily="18" charset="0"/>
              </a:defRPr>
            </a:lvl1pPr>
          </a:lstStyle>
          <a:p>
            <a:pPr>
              <a:defRPr/>
            </a:pPr>
            <a:fld id="{E4CB50F8-5155-4DE3-85C9-6A53229912FA}"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39214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12875"/>
            <a:ext cx="10515600" cy="832370"/>
          </a:xfrm>
        </p:spPr>
        <p:txBody>
          <a:bodyPr/>
          <a:lstStyle/>
          <a:p>
            <a:r>
              <a:rPr lang="en-US"/>
              <a:t>Click to edit Master title style</a:t>
            </a:r>
          </a:p>
        </p:txBody>
      </p:sp>
      <p:sp>
        <p:nvSpPr>
          <p:cNvPr id="3" name="Content Placeholder 2"/>
          <p:cNvSpPr>
            <a:spLocks noGrp="1"/>
          </p:cNvSpPr>
          <p:nvPr>
            <p:ph idx="1"/>
          </p:nvPr>
        </p:nvSpPr>
        <p:spPr>
          <a:xfrm>
            <a:off x="838200" y="1306286"/>
            <a:ext cx="10515600" cy="38796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20D92F-E528-45A2-84BF-2357365708EB}" type="datetime1">
              <a:rPr lang="en-US">
                <a:solidFill>
                  <a:prstClr val="black">
                    <a:tint val="75000"/>
                  </a:prstClr>
                </a:solidFill>
              </a:rPr>
              <a:pPr>
                <a:defRPr/>
              </a:pPr>
              <a:t>9/21/2025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9414933" y="6429376"/>
            <a:ext cx="2743200" cy="365125"/>
          </a:xfrm>
        </p:spPr>
        <p:txBody>
          <a:bodyPr/>
          <a:lstStyle>
            <a:lvl1pPr>
              <a:defRPr sz="1400" b="1">
                <a:solidFill>
                  <a:schemeClr val="bg1"/>
                </a:solidFill>
              </a:defRPr>
            </a:lvl1pPr>
          </a:lstStyle>
          <a:p>
            <a:pPr>
              <a:defRPr/>
            </a:pPr>
            <a:fld id="{882D827A-045F-4F8B-BED3-F1EC0FC2FCF3}"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4240468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730024"/>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3727316"/>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39E5B230-EA38-4665-ADC0-71B3345C5F6E}" type="datetime1">
              <a:rPr lang="en-US">
                <a:solidFill>
                  <a:prstClr val="black">
                    <a:tint val="75000"/>
                  </a:prstClr>
                </a:solidFill>
              </a:rPr>
              <a:pPr>
                <a:defRPr/>
              </a:pPr>
              <a:t>9/21/2025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EE491E9-2B1D-45C6-8F4D-3DE62C53D0EB}" type="slidenum">
              <a:rPr lang="en-US"/>
              <a:pPr>
                <a:defRPr/>
              </a:pPr>
              <a:t>‹#›</a:t>
            </a:fld>
            <a:endParaRPr lang="en-US"/>
          </a:p>
        </p:txBody>
      </p:sp>
    </p:spTree>
    <p:extLst>
      <p:ext uri="{BB962C8B-B14F-4D97-AF65-F5344CB8AC3E}">
        <p14:creationId xmlns:p14="http://schemas.microsoft.com/office/powerpoint/2010/main" val="4021756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EB2E8AB0-6A41-4AC8-B2A3-68A06B67AD5F}" type="datetime1">
              <a:rPr lang="en-US">
                <a:solidFill>
                  <a:prstClr val="black">
                    <a:tint val="75000"/>
                  </a:prstClr>
                </a:solidFill>
              </a:rPr>
              <a:pPr>
                <a:defRPr/>
              </a:pPr>
              <a:t>9/21/2025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F17AFDE-F40A-4509-AE29-94F0020A3158}" type="slidenum">
              <a:rPr lang="en-US"/>
              <a:pPr>
                <a:defRPr/>
              </a:pPr>
              <a:t>‹#›</a:t>
            </a:fld>
            <a:endParaRPr lang="en-US"/>
          </a:p>
        </p:txBody>
      </p:sp>
    </p:spTree>
    <p:extLst>
      <p:ext uri="{BB962C8B-B14F-4D97-AF65-F5344CB8AC3E}">
        <p14:creationId xmlns:p14="http://schemas.microsoft.com/office/powerpoint/2010/main" val="361790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30AEB85-EE21-4F28-9D93-6E28763E6CA1}" type="datetime1">
              <a:rPr lang="en-US">
                <a:solidFill>
                  <a:prstClr val="black">
                    <a:tint val="75000"/>
                  </a:prstClr>
                </a:solidFill>
              </a:rPr>
              <a:pPr>
                <a:defRPr/>
              </a:pPr>
              <a:t>9/21/2025</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341EB68-FD2E-411E-B95B-9EC0482F52F3}" type="slidenum">
              <a:rPr lang="en-US"/>
              <a:pPr>
                <a:defRPr/>
              </a:pPr>
              <a:t>‹#›</a:t>
            </a:fld>
            <a:endParaRPr lang="en-US"/>
          </a:p>
        </p:txBody>
      </p:sp>
    </p:spTree>
    <p:extLst>
      <p:ext uri="{BB962C8B-B14F-4D97-AF65-F5344CB8AC3E}">
        <p14:creationId xmlns:p14="http://schemas.microsoft.com/office/powerpoint/2010/main" val="1712611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61EB22E0-0A4C-43BB-8A8C-84674D9A7369}" type="datetime1">
              <a:rPr lang="en-US">
                <a:solidFill>
                  <a:prstClr val="black">
                    <a:tint val="75000"/>
                  </a:prstClr>
                </a:solidFill>
              </a:rPr>
              <a:pPr>
                <a:defRPr/>
              </a:pPr>
              <a:t>9/21/2025</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EAC4614-64CD-4DB6-9E09-658715B23FED}" type="slidenum">
              <a:rPr lang="en-US"/>
              <a:pPr>
                <a:defRPr/>
              </a:pPr>
              <a:t>‹#›</a:t>
            </a:fld>
            <a:endParaRPr lang="en-US"/>
          </a:p>
        </p:txBody>
      </p:sp>
    </p:spTree>
    <p:extLst>
      <p:ext uri="{BB962C8B-B14F-4D97-AF65-F5344CB8AC3E}">
        <p14:creationId xmlns:p14="http://schemas.microsoft.com/office/powerpoint/2010/main" val="438019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28F74C7-ECFA-481D-979C-1810367CC7C5}" type="datetime1">
              <a:rPr lang="en-US">
                <a:solidFill>
                  <a:prstClr val="black">
                    <a:tint val="75000"/>
                  </a:prstClr>
                </a:solidFill>
              </a:rPr>
              <a:pPr>
                <a:defRPr/>
              </a:pPr>
              <a:t>9/21/2025</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6D2A2DA5-6117-49B0-9646-4A73369C9556}" type="slidenum">
              <a:rPr lang="en-US"/>
              <a:pPr>
                <a:defRPr/>
              </a:pPr>
              <a:t>‹#›</a:t>
            </a:fld>
            <a:endParaRPr lang="en-US"/>
          </a:p>
        </p:txBody>
      </p:sp>
    </p:spTree>
    <p:extLst>
      <p:ext uri="{BB962C8B-B14F-4D97-AF65-F5344CB8AC3E}">
        <p14:creationId xmlns:p14="http://schemas.microsoft.com/office/powerpoint/2010/main" val="4235973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7DFC1D2D-F9B1-4676-95C8-CAAB0578BADA}" type="datetime1">
              <a:rPr lang="en-US">
                <a:solidFill>
                  <a:prstClr val="black">
                    <a:tint val="75000"/>
                  </a:prstClr>
                </a:solidFill>
              </a:rPr>
              <a:pPr>
                <a:defRPr/>
              </a:pPr>
              <a:t>9/21/2025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C95D9AF-2F62-485D-862D-BBE1E5B421D0}" type="slidenum">
              <a:rPr lang="en-US"/>
              <a:pPr>
                <a:defRPr/>
              </a:pPr>
              <a:t>‹#›</a:t>
            </a:fld>
            <a:endParaRPr lang="en-US"/>
          </a:p>
        </p:txBody>
      </p:sp>
    </p:spTree>
    <p:extLst>
      <p:ext uri="{BB962C8B-B14F-4D97-AF65-F5344CB8AC3E}">
        <p14:creationId xmlns:p14="http://schemas.microsoft.com/office/powerpoint/2010/main" val="96002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66851A0-4B6C-429C-A547-3DB53B10F2E7}" type="datetime1">
              <a:rPr lang="en-US">
                <a:solidFill>
                  <a:prstClr val="black">
                    <a:tint val="75000"/>
                  </a:prstClr>
                </a:solidFill>
              </a:rPr>
              <a:pPr>
                <a:defRPr/>
              </a:pPr>
              <a:t>9/21/2025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B2E89B0-5AF0-41BE-BCF8-9908C14E1820}" type="slidenum">
              <a:rPr lang="en-US"/>
              <a:pPr>
                <a:defRPr/>
              </a:pPr>
              <a:t>‹#›</a:t>
            </a:fld>
            <a:endParaRPr lang="en-US"/>
          </a:p>
        </p:txBody>
      </p:sp>
    </p:spTree>
    <p:extLst>
      <p:ext uri="{BB962C8B-B14F-4D97-AF65-F5344CB8AC3E}">
        <p14:creationId xmlns:p14="http://schemas.microsoft.com/office/powerpoint/2010/main" val="8981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B8B53A7-320D-4314-8C9D-647B69376B8D}" type="datetime1">
              <a:rPr lang="en-US">
                <a:solidFill>
                  <a:prstClr val="black">
                    <a:tint val="75000"/>
                  </a:prstClr>
                </a:solidFill>
              </a:rPr>
              <a:pPr>
                <a:defRPr/>
              </a:pPr>
              <a:t>9/21/2025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A6D5356-D1E2-4E06-B917-A98F2D69F716}" type="slidenum">
              <a:rPr lang="en-US"/>
              <a:pPr>
                <a:defRPr/>
              </a:pPr>
              <a:t>‹#›</a:t>
            </a:fld>
            <a:endParaRPr lang="en-US"/>
          </a:p>
        </p:txBody>
      </p:sp>
    </p:spTree>
    <p:extLst>
      <p:ext uri="{BB962C8B-B14F-4D97-AF65-F5344CB8AC3E}">
        <p14:creationId xmlns:p14="http://schemas.microsoft.com/office/powerpoint/2010/main" val="2305775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3BB23-D479-4DF6-82B3-47A5CC4F17C6}" type="datetime1">
              <a:rPr lang="en-US">
                <a:solidFill>
                  <a:prstClr val="black">
                    <a:tint val="75000"/>
                  </a:prstClr>
                </a:solidFill>
              </a:rPr>
              <a:pPr>
                <a:defRPr/>
              </a:pPr>
              <a:t>9/21/2025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A5ADF47-D22A-4CDF-8E2F-9816AA8117DC}" type="slidenum">
              <a:rPr lang="en-US"/>
              <a:pPr>
                <a:defRPr/>
              </a:pPr>
              <a:t>‹#›</a:t>
            </a:fld>
            <a:endParaRPr lang="en-US"/>
          </a:p>
        </p:txBody>
      </p:sp>
    </p:spTree>
    <p:extLst>
      <p:ext uri="{BB962C8B-B14F-4D97-AF65-F5344CB8AC3E}">
        <p14:creationId xmlns:p14="http://schemas.microsoft.com/office/powerpoint/2010/main" val="95289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defTabSz="457200">
              <a:defRPr/>
            </a:pPr>
            <a:fld id="{D8F58730-5AF0-4627-86C6-A9E8465AA91E}" type="datetime1">
              <a:rPr lang="en-US" smtClean="0">
                <a:solidFill>
                  <a:prstClr val="black">
                    <a:tint val="75000"/>
                  </a:prstClr>
                </a:solidFill>
              </a:rPr>
              <a:pPr defTabSz="457200">
                <a:defRPr/>
              </a:pPr>
              <a:t>9/21/2025</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defTabSz="457200">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defTabSz="457200" fontAlgn="base">
              <a:spcBef>
                <a:spcPct val="0"/>
              </a:spcBef>
              <a:spcAft>
                <a:spcPct val="0"/>
              </a:spcAft>
              <a:defRPr/>
            </a:pPr>
            <a:fld id="{D5517BA3-8007-43DA-93AD-FF09F12BB036}" type="slidenum">
              <a:rPr lang="en-US" smtClean="0">
                <a:cs typeface="Arial" panose="020B0604020202020204" pitchFamily="34" charset="0"/>
              </a:rPr>
              <a:pPr defTabSz="457200" fontAlgn="base">
                <a:spcBef>
                  <a:spcPct val="0"/>
                </a:spcBef>
                <a:spcAft>
                  <a:spcPct val="0"/>
                </a:spcAft>
                <a:defRPr/>
              </a:pPr>
              <a:t>‹#›</a:t>
            </a:fld>
            <a:endParaRPr lang="en-US">
              <a:cs typeface="Arial" panose="020B0604020202020204" pitchFamily="34" charset="0"/>
            </a:endParaRPr>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6"/>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57659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2"/>
          </p:nvPr>
        </p:nvSpPr>
        <p:spPr/>
        <p:txBody>
          <a:bodyPr vert="horz" wrap="square" lIns="91440" tIns="45720" rIns="91440" bIns="45720" numCol="1" anchor="ctr" anchorCtr="0" compatLnSpc="1">
            <a:prstTxWarp prst="textNoShape">
              <a:avLst/>
            </a:prstTxWarp>
          </a:bodyPr>
          <a:lstStyle/>
          <a:p>
            <a:r>
              <a:rPr lang="en-US" sz="1400">
                <a:solidFill>
                  <a:prstClr val="white"/>
                </a:solidFill>
                <a:latin typeface="+mn-lt"/>
              </a:rPr>
              <a:t>1</a:t>
            </a:r>
          </a:p>
        </p:txBody>
      </p:sp>
      <p:sp>
        <p:nvSpPr>
          <p:cNvPr id="8" name="Title 1"/>
          <p:cNvSpPr>
            <a:spLocks noGrp="1"/>
          </p:cNvSpPr>
          <p:nvPr>
            <p:ph type="ctrTitle"/>
          </p:nvPr>
        </p:nvSpPr>
        <p:spPr>
          <a:xfrm>
            <a:off x="1332930" y="317146"/>
            <a:ext cx="9144000" cy="774675"/>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4400" b="1">
                <a:solidFill>
                  <a:srgbClr val="002060"/>
                </a:solidFill>
              </a:rPr>
              <a:t>Course Details</a:t>
            </a:r>
          </a:p>
        </p:txBody>
      </p:sp>
      <p:sp>
        <p:nvSpPr>
          <p:cNvPr id="9" name="Subtitle 2"/>
          <p:cNvSpPr>
            <a:spLocks noGrp="1"/>
          </p:cNvSpPr>
          <p:nvPr>
            <p:ph type="subTitle" idx="1"/>
          </p:nvPr>
        </p:nvSpPr>
        <p:spPr>
          <a:xfrm>
            <a:off x="31846" y="1284596"/>
            <a:ext cx="12160154" cy="3423882"/>
          </a:xfrm>
        </p:spPr>
        <p:txBody>
          <a:bodyPr/>
          <a:lstStyle/>
          <a:p>
            <a:pPr algn="l">
              <a:lnSpc>
                <a:spcPct val="150000"/>
              </a:lnSpc>
            </a:pPr>
            <a:r>
              <a:rPr lang="x-none" sz="3200" b="1" dirty="0"/>
              <a:t>Course  Code :</a:t>
            </a:r>
            <a:r>
              <a:rPr lang="en-US" sz="3200" b="1" dirty="0"/>
              <a:t> CSA4009</a:t>
            </a:r>
            <a:endParaRPr lang="en-US" sz="3200" dirty="0"/>
          </a:p>
          <a:p>
            <a:pPr algn="l">
              <a:lnSpc>
                <a:spcPct val="150000"/>
              </a:lnSpc>
            </a:pPr>
            <a:r>
              <a:rPr lang="x-none" sz="3200" b="1" dirty="0"/>
              <a:t>Course Name:</a:t>
            </a:r>
            <a:r>
              <a:rPr lang="en-IN" sz="3200" b="1" dirty="0"/>
              <a:t> </a:t>
            </a:r>
            <a:r>
              <a:rPr lang="en-US" sz="3200" b="1" dirty="0"/>
              <a:t>Artificial Intelligence and Machine Learning</a:t>
            </a:r>
            <a:r>
              <a:rPr lang="en-IN" sz="3200" b="1" dirty="0"/>
              <a:t> </a:t>
            </a:r>
            <a:br>
              <a:rPr lang="en-US" b="1" dirty="0"/>
            </a:br>
            <a:r>
              <a:rPr lang="en-US" sz="3200" b="1" dirty="0"/>
              <a:t>Credit Structure: 2-0-2-3</a:t>
            </a:r>
            <a:endParaRPr lang="en-IN" sz="3200" b="1" dirty="0"/>
          </a:p>
          <a:p>
            <a:pPr algn="l">
              <a:lnSpc>
                <a:spcPct val="150000"/>
              </a:lnSpc>
            </a:pPr>
            <a:r>
              <a:rPr lang="en-US" sz="3200" b="1" dirty="0">
                <a:latin typeface="Cambria"/>
                <a:ea typeface="Cambria"/>
              </a:rPr>
              <a:t>Faculty: Anjana D</a:t>
            </a:r>
            <a:endParaRPr lang="en-US" dirty="0">
              <a:latin typeface="Cambria"/>
              <a:ea typeface="Cambria"/>
            </a:endParaRPr>
          </a:p>
        </p:txBody>
      </p:sp>
    </p:spTree>
    <p:extLst>
      <p:ext uri="{BB962C8B-B14F-4D97-AF65-F5344CB8AC3E}">
        <p14:creationId xmlns:p14="http://schemas.microsoft.com/office/powerpoint/2010/main" val="1960524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655C47-7AD7-12C1-D144-5C01155B1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8087"/>
            <a:ext cx="12191998" cy="5113471"/>
          </a:xfrm>
          <a:prstGeom prst="rect">
            <a:avLst/>
          </a:prstGeom>
          <a:ln>
            <a:noFill/>
          </a:ln>
          <a:effectLst>
            <a:outerShdw blurRad="635000" dist="254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D231D-08E6-4823-81E8-F42521DF8987}"/>
              </a:ext>
            </a:extLst>
          </p:cNvPr>
          <p:cNvSpPr>
            <a:spLocks noGrp="1"/>
          </p:cNvSpPr>
          <p:nvPr>
            <p:ph type="ctrTitle"/>
          </p:nvPr>
        </p:nvSpPr>
        <p:spPr>
          <a:xfrm>
            <a:off x="765614" y="777240"/>
            <a:ext cx="4535516" cy="3777366"/>
          </a:xfrm>
        </p:spPr>
        <p:txBody>
          <a:bodyPr anchor="t">
            <a:normAutofit/>
          </a:bodyPr>
          <a:lstStyle/>
          <a:p>
            <a:pPr algn="l"/>
            <a:r>
              <a:rPr lang="en-US" sz="4800" b="1">
                <a:latin typeface="Agency FB" panose="020B0503020202020204" pitchFamily="34" charset="0"/>
              </a:rPr>
              <a:t>CSA4009 &amp;Artificial Intelligence and Machine Learning</a:t>
            </a:r>
            <a:endParaRPr lang="en-IN" sz="4800" b="1">
              <a:latin typeface="Agency FB" panose="020B0503020202020204" pitchFamily="34" charset="0"/>
            </a:endParaRPr>
          </a:p>
        </p:txBody>
      </p:sp>
      <p:sp useBgFill="1">
        <p:nvSpPr>
          <p:cNvPr id="10" name="Rectangle 9">
            <a:extLst>
              <a:ext uri="{FF2B5EF4-FFF2-40B4-BE49-F238E27FC236}">
                <a16:creationId xmlns:a16="http://schemas.microsoft.com/office/drawing/2014/main" id="{13A48C6C-3CC4-4EE5-A773-EC1EB7F59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5148" y="0"/>
            <a:ext cx="6076852" cy="6849700"/>
          </a:xfrm>
          <a:prstGeom prst="rect">
            <a:avLst/>
          </a:prstGeom>
          <a:ln>
            <a:noFill/>
          </a:ln>
          <a:effectLst>
            <a:outerShdw blurRad="596900" dist="317500" dir="8820000" sx="87000" sy="87000" algn="t" rotWithShape="0">
              <a:schemeClr val="tx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D7AAFB5-A1C6-4B35-8D6E-B188D5DE59D1}"/>
              </a:ext>
            </a:extLst>
          </p:cNvPr>
          <p:cNvPicPr>
            <a:picLocks noChangeAspect="1"/>
          </p:cNvPicPr>
          <p:nvPr/>
        </p:nvPicPr>
        <p:blipFill>
          <a:blip r:embed="rId3"/>
          <a:srcRect l="19677" r="15782" b="-1"/>
          <a:stretch>
            <a:fillRect/>
          </a:stretch>
        </p:blipFill>
        <p:spPr>
          <a:xfrm>
            <a:off x="6115148" y="18087"/>
            <a:ext cx="6076866" cy="5789155"/>
          </a:xfrm>
          <a:prstGeom prst="rect">
            <a:avLst/>
          </a:prstGeom>
        </p:spPr>
      </p:pic>
    </p:spTree>
    <p:extLst>
      <p:ext uri="{BB962C8B-B14F-4D97-AF65-F5344CB8AC3E}">
        <p14:creationId xmlns:p14="http://schemas.microsoft.com/office/powerpoint/2010/main" val="1829212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1FC8B-D3C1-24AA-55D6-939BA23EA011}"/>
              </a:ext>
            </a:extLst>
          </p:cNvPr>
          <p:cNvSpPr>
            <a:spLocks noGrp="1"/>
          </p:cNvSpPr>
          <p:nvPr>
            <p:ph type="title"/>
          </p:nvPr>
        </p:nvSpPr>
        <p:spPr>
          <a:xfrm>
            <a:off x="838200" y="2047407"/>
            <a:ext cx="10515600" cy="832370"/>
          </a:xfrm>
        </p:spPr>
        <p:txBody>
          <a:bodyPr/>
          <a:lstStyle/>
          <a:p>
            <a:r>
              <a:rPr lang="en-US" dirty="0"/>
              <a:t>Artificial Intelligence foundation and Future of AI Overview, Artificial Intelligence foundation, History and Applications</a:t>
            </a:r>
            <a:endParaRPr lang="en-IN" dirty="0"/>
          </a:p>
        </p:txBody>
      </p:sp>
      <p:sp>
        <p:nvSpPr>
          <p:cNvPr id="4" name="Slide Number Placeholder 3">
            <a:extLst>
              <a:ext uri="{FF2B5EF4-FFF2-40B4-BE49-F238E27FC236}">
                <a16:creationId xmlns:a16="http://schemas.microsoft.com/office/drawing/2014/main" id="{830B5694-F35B-C369-5C97-4B2ED3B0472E}"/>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3</a:t>
            </a:fld>
            <a:endParaRPr lang="en-US">
              <a:solidFill>
                <a:prstClr val="white"/>
              </a:solidFill>
            </a:endParaRPr>
          </a:p>
        </p:txBody>
      </p:sp>
    </p:spTree>
    <p:extLst>
      <p:ext uri="{BB962C8B-B14F-4D97-AF65-F5344CB8AC3E}">
        <p14:creationId xmlns:p14="http://schemas.microsoft.com/office/powerpoint/2010/main" val="3678134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90C31-12BB-A3FA-960C-609C9468F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A254F-B1FB-4D2D-F663-F1777EB356FF}"/>
              </a:ext>
            </a:extLst>
          </p:cNvPr>
          <p:cNvSpPr>
            <a:spLocks noGrp="1"/>
          </p:cNvSpPr>
          <p:nvPr>
            <p:ph type="title"/>
          </p:nvPr>
        </p:nvSpPr>
        <p:spPr/>
        <p:txBody>
          <a:bodyPr/>
          <a:lstStyle/>
          <a:p>
            <a:r>
              <a:rPr lang="en-US" dirty="0"/>
              <a:t>What is Artificial Intelligence?</a:t>
            </a:r>
            <a:endParaRPr lang="en-IN" dirty="0"/>
          </a:p>
        </p:txBody>
      </p:sp>
      <p:sp>
        <p:nvSpPr>
          <p:cNvPr id="3" name="Content Placeholder 2">
            <a:extLst>
              <a:ext uri="{FF2B5EF4-FFF2-40B4-BE49-F238E27FC236}">
                <a16:creationId xmlns:a16="http://schemas.microsoft.com/office/drawing/2014/main" id="{C1E72EC6-E809-E2E2-4A5E-152C291F3B45}"/>
              </a:ext>
            </a:extLst>
          </p:cNvPr>
          <p:cNvSpPr>
            <a:spLocks noGrp="1"/>
          </p:cNvSpPr>
          <p:nvPr>
            <p:ph idx="1"/>
          </p:nvPr>
        </p:nvSpPr>
        <p:spPr/>
        <p:txBody>
          <a:bodyPr/>
          <a:lstStyle/>
          <a:p>
            <a:r>
              <a:rPr lang="en-US" dirty="0"/>
              <a:t>AI is the science of making machines think, learn, and act like humans.</a:t>
            </a:r>
          </a:p>
          <a:p>
            <a:r>
              <a:rPr lang="en-US" dirty="0"/>
              <a:t>Combines data, algorithms, and computing power.</a:t>
            </a:r>
          </a:p>
          <a:p>
            <a:r>
              <a:rPr lang="en-US" dirty="0"/>
              <a:t>Enables tasks like:</a:t>
            </a:r>
          </a:p>
          <a:p>
            <a:pPr lvl="1"/>
            <a:r>
              <a:rPr lang="en-US" dirty="0"/>
              <a:t>Problem solving</a:t>
            </a:r>
          </a:p>
          <a:p>
            <a:pPr lvl="1"/>
            <a:r>
              <a:rPr lang="en-US" dirty="0"/>
              <a:t>Reasoning</a:t>
            </a:r>
          </a:p>
          <a:p>
            <a:pPr lvl="1"/>
            <a:r>
              <a:rPr lang="en-US" dirty="0"/>
              <a:t>Language understanding</a:t>
            </a:r>
          </a:p>
          <a:p>
            <a:pPr lvl="1"/>
            <a:r>
              <a:rPr lang="en-US" dirty="0"/>
              <a:t>Perception (vision, speech)</a:t>
            </a:r>
            <a:endParaRPr lang="en-IN" dirty="0"/>
          </a:p>
        </p:txBody>
      </p:sp>
      <p:sp>
        <p:nvSpPr>
          <p:cNvPr id="4" name="Slide Number Placeholder 3">
            <a:extLst>
              <a:ext uri="{FF2B5EF4-FFF2-40B4-BE49-F238E27FC236}">
                <a16:creationId xmlns:a16="http://schemas.microsoft.com/office/drawing/2014/main" id="{4C87064B-819D-799C-AA33-4732629823D8}"/>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4</a:t>
            </a:fld>
            <a:endParaRPr lang="en-US">
              <a:solidFill>
                <a:prstClr val="white"/>
              </a:solidFill>
            </a:endParaRPr>
          </a:p>
        </p:txBody>
      </p:sp>
    </p:spTree>
    <p:extLst>
      <p:ext uri="{BB962C8B-B14F-4D97-AF65-F5344CB8AC3E}">
        <p14:creationId xmlns:p14="http://schemas.microsoft.com/office/powerpoint/2010/main" val="2037176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367E1-0EC1-14A3-8910-854149832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AE34C-0979-BED5-C37E-1AB6371C888D}"/>
              </a:ext>
            </a:extLst>
          </p:cNvPr>
          <p:cNvSpPr>
            <a:spLocks noGrp="1"/>
          </p:cNvSpPr>
          <p:nvPr>
            <p:ph type="title"/>
          </p:nvPr>
        </p:nvSpPr>
        <p:spPr/>
        <p:txBody>
          <a:bodyPr/>
          <a:lstStyle/>
          <a:p>
            <a:r>
              <a:rPr lang="en-IN" dirty="0"/>
              <a:t>Foundations of AI</a:t>
            </a:r>
          </a:p>
        </p:txBody>
      </p:sp>
      <p:sp>
        <p:nvSpPr>
          <p:cNvPr id="3" name="Content Placeholder 2">
            <a:extLst>
              <a:ext uri="{FF2B5EF4-FFF2-40B4-BE49-F238E27FC236}">
                <a16:creationId xmlns:a16="http://schemas.microsoft.com/office/drawing/2014/main" id="{BF5286E0-B4BF-4196-12C0-7DBD009C38C1}"/>
              </a:ext>
            </a:extLst>
          </p:cNvPr>
          <p:cNvSpPr>
            <a:spLocks noGrp="1"/>
          </p:cNvSpPr>
          <p:nvPr>
            <p:ph idx="1"/>
          </p:nvPr>
        </p:nvSpPr>
        <p:spPr/>
        <p:txBody>
          <a:bodyPr/>
          <a:lstStyle/>
          <a:p>
            <a:r>
              <a:rPr lang="en-US" dirty="0"/>
              <a:t>Philosophy &amp; Logic (Can machines think?)</a:t>
            </a:r>
          </a:p>
          <a:p>
            <a:r>
              <a:rPr lang="en-US" dirty="0"/>
              <a:t>Mathematics &amp; Statistics (Probability, decision theory)</a:t>
            </a:r>
          </a:p>
          <a:p>
            <a:r>
              <a:rPr lang="en-US" dirty="0"/>
              <a:t>Computer Science (Algorithms, data structures)</a:t>
            </a:r>
          </a:p>
          <a:p>
            <a:r>
              <a:rPr lang="en-US" dirty="0"/>
              <a:t>Neuroscience &amp; Psychology (Brain-inspired learning)</a:t>
            </a:r>
            <a:endParaRPr lang="en-IN" dirty="0"/>
          </a:p>
        </p:txBody>
      </p:sp>
      <p:sp>
        <p:nvSpPr>
          <p:cNvPr id="4" name="Slide Number Placeholder 3">
            <a:extLst>
              <a:ext uri="{FF2B5EF4-FFF2-40B4-BE49-F238E27FC236}">
                <a16:creationId xmlns:a16="http://schemas.microsoft.com/office/drawing/2014/main" id="{07024F2F-A46A-D4A6-33BE-7DB4AD280B9C}"/>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5</a:t>
            </a:fld>
            <a:endParaRPr lang="en-US">
              <a:solidFill>
                <a:prstClr val="white"/>
              </a:solidFill>
            </a:endParaRPr>
          </a:p>
        </p:txBody>
      </p:sp>
    </p:spTree>
    <p:extLst>
      <p:ext uri="{BB962C8B-B14F-4D97-AF65-F5344CB8AC3E}">
        <p14:creationId xmlns:p14="http://schemas.microsoft.com/office/powerpoint/2010/main" val="110057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915BD-3AF8-E995-45CD-0DF28883B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BBF96-F6B1-B050-DDA2-69CE4DEB54BF}"/>
              </a:ext>
            </a:extLst>
          </p:cNvPr>
          <p:cNvSpPr>
            <a:spLocks noGrp="1"/>
          </p:cNvSpPr>
          <p:nvPr>
            <p:ph type="title"/>
          </p:nvPr>
        </p:nvSpPr>
        <p:spPr/>
        <p:txBody>
          <a:bodyPr/>
          <a:lstStyle/>
          <a:p>
            <a:r>
              <a:rPr lang="en-IN" dirty="0"/>
              <a:t>History of AI</a:t>
            </a:r>
          </a:p>
        </p:txBody>
      </p:sp>
      <p:sp>
        <p:nvSpPr>
          <p:cNvPr id="3" name="Content Placeholder 2">
            <a:extLst>
              <a:ext uri="{FF2B5EF4-FFF2-40B4-BE49-F238E27FC236}">
                <a16:creationId xmlns:a16="http://schemas.microsoft.com/office/drawing/2014/main" id="{259969EB-6C98-0D36-ADDB-4545E8AE661B}"/>
              </a:ext>
            </a:extLst>
          </p:cNvPr>
          <p:cNvSpPr>
            <a:spLocks noGrp="1"/>
          </p:cNvSpPr>
          <p:nvPr>
            <p:ph idx="1"/>
          </p:nvPr>
        </p:nvSpPr>
        <p:spPr/>
        <p:txBody>
          <a:bodyPr/>
          <a:lstStyle/>
          <a:p>
            <a:r>
              <a:rPr lang="en-US" dirty="0"/>
              <a:t>1950s: Alan Turing’s “Can machines think?” → Turing Test</a:t>
            </a:r>
          </a:p>
          <a:p>
            <a:r>
              <a:rPr lang="en-US" dirty="0"/>
              <a:t>1956: Dartmouth Conference – birth of AI</a:t>
            </a:r>
          </a:p>
          <a:p>
            <a:r>
              <a:rPr lang="en-US" dirty="0"/>
              <a:t>1960s–70s: Early programs (chess, theorem proving)</a:t>
            </a:r>
          </a:p>
          <a:p>
            <a:r>
              <a:rPr lang="en-US" dirty="0"/>
              <a:t>1980s: Expert Systems (rule-based AI)</a:t>
            </a:r>
          </a:p>
          <a:p>
            <a:r>
              <a:rPr lang="en-US" dirty="0"/>
              <a:t>1990s: Machine Learning &amp; Data-driven approaches</a:t>
            </a:r>
          </a:p>
          <a:p>
            <a:r>
              <a:rPr lang="en-US" dirty="0"/>
              <a:t>2010s onwards: Deep Learning, Big Data, AI in real life</a:t>
            </a:r>
            <a:endParaRPr lang="en-IN" dirty="0"/>
          </a:p>
        </p:txBody>
      </p:sp>
      <p:sp>
        <p:nvSpPr>
          <p:cNvPr id="4" name="Slide Number Placeholder 3">
            <a:extLst>
              <a:ext uri="{FF2B5EF4-FFF2-40B4-BE49-F238E27FC236}">
                <a16:creationId xmlns:a16="http://schemas.microsoft.com/office/drawing/2014/main" id="{FAD3609E-E5C3-7601-7D7E-FE5DCFC1EC84}"/>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6</a:t>
            </a:fld>
            <a:endParaRPr lang="en-US">
              <a:solidFill>
                <a:prstClr val="white"/>
              </a:solidFill>
            </a:endParaRPr>
          </a:p>
        </p:txBody>
      </p:sp>
    </p:spTree>
    <p:extLst>
      <p:ext uri="{BB962C8B-B14F-4D97-AF65-F5344CB8AC3E}">
        <p14:creationId xmlns:p14="http://schemas.microsoft.com/office/powerpoint/2010/main" val="1851770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02F38-8E95-12E4-CA63-08CE46E33CC0}"/>
              </a:ext>
            </a:extLst>
          </p:cNvPr>
          <p:cNvSpPr>
            <a:spLocks noGrp="1"/>
          </p:cNvSpPr>
          <p:nvPr>
            <p:ph type="title"/>
          </p:nvPr>
        </p:nvSpPr>
        <p:spPr/>
        <p:txBody>
          <a:bodyPr/>
          <a:lstStyle/>
          <a:p>
            <a:r>
              <a:rPr lang="en-US" dirty="0"/>
              <a:t>Turing Test in Artificial Intelligence</a:t>
            </a:r>
            <a:endParaRPr lang="en-IN" dirty="0"/>
          </a:p>
        </p:txBody>
      </p:sp>
      <p:sp>
        <p:nvSpPr>
          <p:cNvPr id="3" name="Content Placeholder 2">
            <a:extLst>
              <a:ext uri="{FF2B5EF4-FFF2-40B4-BE49-F238E27FC236}">
                <a16:creationId xmlns:a16="http://schemas.microsoft.com/office/drawing/2014/main" id="{5921741B-F147-8364-82FA-1EC26E12E2A8}"/>
              </a:ext>
            </a:extLst>
          </p:cNvPr>
          <p:cNvSpPr>
            <a:spLocks noGrp="1"/>
          </p:cNvSpPr>
          <p:nvPr>
            <p:ph idx="1"/>
          </p:nvPr>
        </p:nvSpPr>
        <p:spPr/>
        <p:txBody>
          <a:bodyPr/>
          <a:lstStyle/>
          <a:p>
            <a:r>
              <a:rPr lang="en-US" dirty="0"/>
              <a:t>The Turing Test is one of the most well-known and debated concepts in artificial intelligence (AI). It was proposed by the British mathematician and computer scientist Alan Turing in 1950 in his seminal paper, "Computing Machinery and Intelligence." He proposed that the "Turing test is used to determine whether or not a computer(machine) can think intelligently like humans"? </a:t>
            </a:r>
            <a:endParaRPr lang="en-IN" dirty="0"/>
          </a:p>
        </p:txBody>
      </p:sp>
      <p:sp>
        <p:nvSpPr>
          <p:cNvPr id="4" name="Slide Number Placeholder 3">
            <a:extLst>
              <a:ext uri="{FF2B5EF4-FFF2-40B4-BE49-F238E27FC236}">
                <a16:creationId xmlns:a16="http://schemas.microsoft.com/office/drawing/2014/main" id="{9F0DA025-019C-E5FD-A244-C3416B4C65A3}"/>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7</a:t>
            </a:fld>
            <a:endParaRPr lang="en-US">
              <a:solidFill>
                <a:prstClr val="white"/>
              </a:solidFill>
            </a:endParaRPr>
          </a:p>
        </p:txBody>
      </p:sp>
    </p:spTree>
    <p:extLst>
      <p:ext uri="{BB962C8B-B14F-4D97-AF65-F5344CB8AC3E}">
        <p14:creationId xmlns:p14="http://schemas.microsoft.com/office/powerpoint/2010/main" val="397316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55E5E-D214-8509-6C0F-B5760AC86458}"/>
              </a:ext>
            </a:extLst>
          </p:cNvPr>
          <p:cNvSpPr>
            <a:spLocks noGrp="1"/>
          </p:cNvSpPr>
          <p:nvPr>
            <p:ph type="title"/>
          </p:nvPr>
        </p:nvSpPr>
        <p:spPr/>
        <p:txBody>
          <a:bodyPr/>
          <a:lstStyle/>
          <a:p>
            <a:r>
              <a:rPr lang="en-US" dirty="0"/>
              <a:t>Turing Testing</a:t>
            </a:r>
            <a:endParaRPr lang="en-IN" dirty="0"/>
          </a:p>
        </p:txBody>
      </p:sp>
      <p:sp>
        <p:nvSpPr>
          <p:cNvPr id="3" name="Content Placeholder 2">
            <a:extLst>
              <a:ext uri="{FF2B5EF4-FFF2-40B4-BE49-F238E27FC236}">
                <a16:creationId xmlns:a16="http://schemas.microsoft.com/office/drawing/2014/main" id="{E1F63265-F138-4E02-9121-9F14E03DB53B}"/>
              </a:ext>
            </a:extLst>
          </p:cNvPr>
          <p:cNvSpPr>
            <a:spLocks noGrp="1"/>
          </p:cNvSpPr>
          <p:nvPr>
            <p:ph idx="1"/>
          </p:nvPr>
        </p:nvSpPr>
        <p:spPr/>
        <p:txBody>
          <a:bodyPr/>
          <a:lstStyle/>
          <a:p>
            <a:pPr marL="0" indent="0">
              <a:buNone/>
            </a:pPr>
            <a:r>
              <a:rPr lang="en-US" dirty="0"/>
              <a:t>The Turing Test is a widely recognized benchmark for evaluating a machine's ability to demonstrate human-like intelligence. The core idea is simple: A human judge engages in a text-based conversation with both a human and a machine. The judge's task is to determine which participant is human and which is the machine. If the judge is unable to distinguish between the human and the machine based solely on the conversation, the machine is said to have passed the Turing Test.</a:t>
            </a:r>
            <a:endParaRPr lang="en-IN" dirty="0"/>
          </a:p>
        </p:txBody>
      </p:sp>
      <p:sp>
        <p:nvSpPr>
          <p:cNvPr id="4" name="Slide Number Placeholder 3">
            <a:extLst>
              <a:ext uri="{FF2B5EF4-FFF2-40B4-BE49-F238E27FC236}">
                <a16:creationId xmlns:a16="http://schemas.microsoft.com/office/drawing/2014/main" id="{12C2592D-B119-313C-2BB7-484616D786F6}"/>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8</a:t>
            </a:fld>
            <a:endParaRPr lang="en-US">
              <a:solidFill>
                <a:prstClr val="white"/>
              </a:solidFill>
            </a:endParaRPr>
          </a:p>
        </p:txBody>
      </p:sp>
    </p:spTree>
    <p:extLst>
      <p:ext uri="{BB962C8B-B14F-4D97-AF65-F5344CB8AC3E}">
        <p14:creationId xmlns:p14="http://schemas.microsoft.com/office/powerpoint/2010/main" val="522198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CC79C-0C6F-1A71-8E86-0D9D46B64C89}"/>
              </a:ext>
            </a:extLst>
          </p:cNvPr>
          <p:cNvSpPr>
            <a:spLocks noGrp="1"/>
          </p:cNvSpPr>
          <p:nvPr>
            <p:ph type="title"/>
          </p:nvPr>
        </p:nvSpPr>
        <p:spPr/>
        <p:txBody>
          <a:bodyPr/>
          <a:lstStyle/>
          <a:p>
            <a:r>
              <a:rPr lang="en-US" dirty="0"/>
              <a:t>How the Turing Test Works?</a:t>
            </a:r>
            <a:endParaRPr lang="en-IN" dirty="0"/>
          </a:p>
        </p:txBody>
      </p:sp>
      <p:sp>
        <p:nvSpPr>
          <p:cNvPr id="3" name="Content Placeholder 2">
            <a:extLst>
              <a:ext uri="{FF2B5EF4-FFF2-40B4-BE49-F238E27FC236}">
                <a16:creationId xmlns:a16="http://schemas.microsoft.com/office/drawing/2014/main" id="{CD95A192-5114-4A7A-5F19-932551E8456A}"/>
              </a:ext>
            </a:extLst>
          </p:cNvPr>
          <p:cNvSpPr>
            <a:spLocks noGrp="1"/>
          </p:cNvSpPr>
          <p:nvPr>
            <p:ph idx="1"/>
          </p:nvPr>
        </p:nvSpPr>
        <p:spPr/>
        <p:txBody>
          <a:bodyPr/>
          <a:lstStyle/>
          <a:p>
            <a:r>
              <a:rPr lang="en-US" dirty="0"/>
              <a:t>In a typical Turing Test scenario, three participants are involved: </a:t>
            </a:r>
            <a:r>
              <a:rPr lang="en-US" u="sng" dirty="0"/>
              <a:t>two humans and one machine</a:t>
            </a:r>
            <a:r>
              <a:rPr lang="en-US" dirty="0"/>
              <a:t>.</a:t>
            </a:r>
          </a:p>
          <a:p>
            <a:r>
              <a:rPr lang="en-US" dirty="0"/>
              <a:t>The interrogator, a human judge, is isolated from the other two participants. The judge asks questions to both the human and the machine, aiming to identify which one is the human. The machine's goal is to respond in a way that makes it indistinguishable from the human participant. If the judge cannot reliably identify the machine, the machine is considered to have passed the Turing Test.</a:t>
            </a:r>
          </a:p>
          <a:p>
            <a:br>
              <a:rPr lang="en-US" dirty="0"/>
            </a:br>
            <a:endParaRPr lang="en-IN" dirty="0"/>
          </a:p>
        </p:txBody>
      </p:sp>
      <p:sp>
        <p:nvSpPr>
          <p:cNvPr id="4" name="Slide Number Placeholder 3">
            <a:extLst>
              <a:ext uri="{FF2B5EF4-FFF2-40B4-BE49-F238E27FC236}">
                <a16:creationId xmlns:a16="http://schemas.microsoft.com/office/drawing/2014/main" id="{06222152-6B92-440F-D24F-95896CE0BB3F}"/>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9</a:t>
            </a:fld>
            <a:endParaRPr lang="en-US">
              <a:solidFill>
                <a:prstClr val="white"/>
              </a:solidFill>
            </a:endParaRPr>
          </a:p>
        </p:txBody>
      </p:sp>
    </p:spTree>
    <p:extLst>
      <p:ext uri="{BB962C8B-B14F-4D97-AF65-F5344CB8AC3E}">
        <p14:creationId xmlns:p14="http://schemas.microsoft.com/office/powerpoint/2010/main" val="335465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2206-8277-CF58-2A61-7461EFEB0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69442-2B0B-7C7A-DCB4-A8F1B27EB178}"/>
              </a:ext>
            </a:extLst>
          </p:cNvPr>
          <p:cNvSpPr>
            <a:spLocks noGrp="1"/>
          </p:cNvSpPr>
          <p:nvPr>
            <p:ph type="title"/>
          </p:nvPr>
        </p:nvSpPr>
        <p:spPr/>
        <p:txBody>
          <a:bodyPr/>
          <a:lstStyle/>
          <a:p>
            <a:r>
              <a:rPr lang="en-IN" dirty="0">
                <a:highlight>
                  <a:srgbClr val="FFFFFF"/>
                </a:highlight>
              </a:rPr>
              <a:t>Applications of AI (Today)</a:t>
            </a:r>
          </a:p>
        </p:txBody>
      </p:sp>
      <p:sp>
        <p:nvSpPr>
          <p:cNvPr id="3" name="Content Placeholder 2">
            <a:extLst>
              <a:ext uri="{FF2B5EF4-FFF2-40B4-BE49-F238E27FC236}">
                <a16:creationId xmlns:a16="http://schemas.microsoft.com/office/drawing/2014/main" id="{DA0C72DB-5C3E-DD9F-E3CC-74198938681C}"/>
              </a:ext>
            </a:extLst>
          </p:cNvPr>
          <p:cNvSpPr>
            <a:spLocks noGrp="1"/>
          </p:cNvSpPr>
          <p:nvPr>
            <p:ph idx="1"/>
          </p:nvPr>
        </p:nvSpPr>
        <p:spPr/>
        <p:txBody>
          <a:bodyPr/>
          <a:lstStyle/>
          <a:p>
            <a:r>
              <a:rPr lang="en-IN" dirty="0"/>
              <a:t>Healthcare: Diagnosis, drug discovery</a:t>
            </a:r>
          </a:p>
          <a:p>
            <a:r>
              <a:rPr lang="en-IN" dirty="0"/>
              <a:t>Education: Personalized learning tools</a:t>
            </a:r>
          </a:p>
          <a:p>
            <a:r>
              <a:rPr lang="en-IN" dirty="0"/>
              <a:t>Business: Chatbots, fraud detection, recommendations</a:t>
            </a:r>
          </a:p>
          <a:p>
            <a:r>
              <a:rPr lang="en-IN" dirty="0"/>
              <a:t>Transportation: Self-driving vehicles</a:t>
            </a:r>
          </a:p>
          <a:p>
            <a:r>
              <a:rPr lang="en-IN" dirty="0"/>
              <a:t>Daily Life: Voice assistants, smart devices</a:t>
            </a:r>
          </a:p>
        </p:txBody>
      </p:sp>
      <p:sp>
        <p:nvSpPr>
          <p:cNvPr id="4" name="Slide Number Placeholder 3">
            <a:extLst>
              <a:ext uri="{FF2B5EF4-FFF2-40B4-BE49-F238E27FC236}">
                <a16:creationId xmlns:a16="http://schemas.microsoft.com/office/drawing/2014/main" id="{52AC1949-D5C6-3EFF-45EA-B9D751123E4D}"/>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10</a:t>
            </a:fld>
            <a:endParaRPr lang="en-US">
              <a:solidFill>
                <a:prstClr val="white"/>
              </a:solidFill>
            </a:endParaRPr>
          </a:p>
        </p:txBody>
      </p:sp>
    </p:spTree>
    <p:extLst>
      <p:ext uri="{BB962C8B-B14F-4D97-AF65-F5344CB8AC3E}">
        <p14:creationId xmlns:p14="http://schemas.microsoft.com/office/powerpoint/2010/main" val="2166345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74036-B4E8-28E1-176E-9B63A91B8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E3DC7-7BB0-8B95-9933-08FC9E447AD9}"/>
              </a:ext>
            </a:extLst>
          </p:cNvPr>
          <p:cNvSpPr>
            <a:spLocks noGrp="1"/>
          </p:cNvSpPr>
          <p:nvPr>
            <p:ph type="title"/>
          </p:nvPr>
        </p:nvSpPr>
        <p:spPr>
          <a:xfrm>
            <a:off x="838200" y="2263595"/>
            <a:ext cx="10515600" cy="832370"/>
          </a:xfrm>
        </p:spPr>
        <p:txBody>
          <a:bodyPr/>
          <a:lstStyle/>
          <a:p>
            <a:r>
              <a:rPr lang="en-US" dirty="0"/>
              <a:t>				THANK YOU</a:t>
            </a:r>
            <a:endParaRPr lang="en-IN" dirty="0"/>
          </a:p>
        </p:txBody>
      </p:sp>
      <p:sp>
        <p:nvSpPr>
          <p:cNvPr id="4" name="Slide Number Placeholder 3">
            <a:extLst>
              <a:ext uri="{FF2B5EF4-FFF2-40B4-BE49-F238E27FC236}">
                <a16:creationId xmlns:a16="http://schemas.microsoft.com/office/drawing/2014/main" id="{9105594C-3DA6-778D-D182-E7DADF427964}"/>
              </a:ext>
            </a:extLst>
          </p:cNvPr>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11</a:t>
            </a:fld>
            <a:endParaRPr lang="en-US">
              <a:solidFill>
                <a:prstClr val="white"/>
              </a:solidFill>
            </a:endParaRPr>
          </a:p>
        </p:txBody>
      </p:sp>
    </p:spTree>
    <p:extLst>
      <p:ext uri="{BB962C8B-B14F-4D97-AF65-F5344CB8AC3E}">
        <p14:creationId xmlns:p14="http://schemas.microsoft.com/office/powerpoint/2010/main" val="126101747"/>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23A97A4E1007448B1369F743ED98090" ma:contentTypeVersion="8" ma:contentTypeDescription="Create a new document." ma:contentTypeScope="" ma:versionID="d62c4c7986642efde20509dffc321bae">
  <xsd:schema xmlns:xsd="http://www.w3.org/2001/XMLSchema" xmlns:xs="http://www.w3.org/2001/XMLSchema" xmlns:p="http://schemas.microsoft.com/office/2006/metadata/properties" xmlns:ns2="8cc84e2d-2165-45f6-97da-250b2f29d978" targetNamespace="http://schemas.microsoft.com/office/2006/metadata/properties" ma:root="true" ma:fieldsID="da2ced9fa79197b90a39adc16852fba5" ns2:_="">
    <xsd:import namespace="8cc84e2d-2165-45f6-97da-250b2f29d97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c84e2d-2165-45f6-97da-250b2f29d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0C45018-C7CA-441D-800E-32A4534AF727}">
  <ds:schemaRefs>
    <ds:schemaRef ds:uri="8cc84e2d-2165-45f6-97da-250b2f29d9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F247DA2-F72B-453C-8215-978BEA401834}">
  <ds:schemaRefs>
    <ds:schemaRef ds:uri="8cc84e2d-2165-45f6-97da-250b2f29d9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583A918-760C-43EF-B09D-A78E7627C1C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36</TotalTime>
  <Words>504</Words>
  <Application>Microsoft Office PowerPoint</Application>
  <PresentationFormat>Widescreen</PresentationFormat>
  <Paragraphs>53</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Agency FB</vt:lpstr>
      <vt:lpstr>Arial</vt:lpstr>
      <vt:lpstr>Calibri</vt:lpstr>
      <vt:lpstr>Cambria</vt:lpstr>
      <vt:lpstr>1_Office Theme</vt:lpstr>
      <vt:lpstr>Course Details</vt:lpstr>
      <vt:lpstr>CSA4009 &amp;Artificial Intelligence and Machine Learning</vt:lpstr>
      <vt:lpstr>Artificial Intelligence foundation and Future of AI Overview, Artificial Intelligence foundation, History and Applications</vt:lpstr>
      <vt:lpstr>What is Artificial Intelligence?</vt:lpstr>
      <vt:lpstr>Foundations of AI</vt:lpstr>
      <vt:lpstr>History of AI</vt:lpstr>
      <vt:lpstr>Turing Test in Artificial Intelligence</vt:lpstr>
      <vt:lpstr>Turing Testing</vt:lpstr>
      <vt:lpstr>How the Turing Test Works?</vt:lpstr>
      <vt:lpstr>Applications of AI (Today)</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Details</dc:title>
  <dc:creator>satyendra singh</dc:creator>
  <cp:lastModifiedBy>Anjana D</cp:lastModifiedBy>
  <cp:revision>9</cp:revision>
  <dcterms:created xsi:type="dcterms:W3CDTF">2025-09-14T04:21:04Z</dcterms:created>
  <dcterms:modified xsi:type="dcterms:W3CDTF">2025-09-21T03:28:08Z</dcterms:modified>
</cp:coreProperties>
</file>